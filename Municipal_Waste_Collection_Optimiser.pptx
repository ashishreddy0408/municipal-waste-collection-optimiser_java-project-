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D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-1280160"/>
            <a:ext cx="4572000" cy="4572000"/>
          </a:xfrm>
          <a:prstGeom prst="ellipse">
            <a:avLst/>
          </a:prstGeom>
          <a:solidFill>
            <a:srgbClr val="1B5E3F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2926080"/>
            <a:ext cx="3291840" cy="3291840"/>
          </a:xfrm>
          <a:prstGeom prst="ellipse">
            <a:avLst/>
          </a:prstGeom>
          <a:solidFill>
            <a:srgbClr val="2E8B5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3657600"/>
            <a:ext cx="2560320" cy="2560320"/>
          </a:xfrm>
          <a:prstGeom prst="ellipse">
            <a:avLst/>
          </a:prstGeom>
          <a:solidFill>
            <a:srgbClr val="2E8B57">
              <a:alpha val="3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720840" y="822960"/>
            <a:ext cx="1554480" cy="15544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1188720"/>
            <a:ext cx="822960" cy="8229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4B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86868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Waste Collection Optimiser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548640" y="2606040"/>
            <a:ext cx="2743200" cy="868680"/>
          </a:xfrm>
          <a:prstGeom prst="roundRect">
            <a:avLst>
              <a:gd name="adj" fmla="val 10526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260604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Thatikonda Ashish Reddy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CF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2620030610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3474720" y="2606040"/>
            <a:ext cx="2743200" cy="868680"/>
          </a:xfrm>
          <a:prstGeom prst="roundRect">
            <a:avLst>
              <a:gd name="adj" fmla="val 10526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611880" y="260604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Vicharapu Tarun Teja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CF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2620030594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3794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B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Guide: 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V. Gopikrishna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94360" cy="594360"/>
          </a:xfrm>
          <a:prstGeom prst="ellipse">
            <a:avLst/>
          </a:prstGeom>
          <a:solidFill>
            <a:srgbClr val="1B5E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92608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Waste Collection Optimiser  | 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40005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D5E8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705356"/>
            <a:ext cx="566928" cy="566928"/>
          </a:xfrm>
          <a:prstGeom prst="ellipse">
            <a:avLst/>
          </a:prstGeom>
          <a:solidFill>
            <a:srgbClr val="DDF1E4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473" y="1835749"/>
            <a:ext cx="306141" cy="306141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98448" y="1188720"/>
            <a:ext cx="297637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waste management is a core responsibility of every municipality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94860" y="1143000"/>
            <a:ext cx="40005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D5E8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77740" y="1705356"/>
            <a:ext cx="566928" cy="566928"/>
          </a:xfrm>
          <a:prstGeom prst="ellipse">
            <a:avLst/>
          </a:prstGeom>
          <a:solidFill>
            <a:srgbClr val="DDF1E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8133" y="1835749"/>
            <a:ext cx="306141" cy="30614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436108" y="1188720"/>
            <a:ext cx="297637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Trucks follow fixed routes, whether bins are full or empty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457200" y="2971800"/>
            <a:ext cx="40005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D5E8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080" y="3534156"/>
            <a:ext cx="566928" cy="566928"/>
          </a:xfrm>
          <a:prstGeom prst="ellipse">
            <a:avLst/>
          </a:prstGeom>
          <a:solidFill>
            <a:srgbClr val="DDF1E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473" y="3664549"/>
            <a:ext cx="306141" cy="30614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298448" y="3017520"/>
            <a:ext cx="297637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Java application that plans efficient collection routes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4594860" y="2971800"/>
            <a:ext cx="40005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D5E8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777740" y="3534156"/>
            <a:ext cx="566928" cy="566928"/>
          </a:xfrm>
          <a:prstGeom prst="ellipse">
            <a:avLst/>
          </a:prstGeom>
          <a:solidFill>
            <a:srgbClr val="DDF1E4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8133" y="3664549"/>
            <a:ext cx="306141" cy="306141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36108" y="3017520"/>
            <a:ext cx="297637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fuel cost, saved time and a cleaner city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94360" cy="594360"/>
          </a:xfrm>
          <a:prstGeom prst="ellipse">
            <a:avLst/>
          </a:prstGeom>
          <a:solidFill>
            <a:srgbClr val="1B5E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92608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Waste Collection Optimiser  | 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40005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D5E8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705356"/>
            <a:ext cx="566928" cy="566928"/>
          </a:xfrm>
          <a:prstGeom prst="ellipse">
            <a:avLst/>
          </a:prstGeom>
          <a:solidFill>
            <a:srgbClr val="DDF1E4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473" y="1835749"/>
            <a:ext cx="306141" cy="306141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98448" y="1188720"/>
            <a:ext cx="297637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routes: empty bins visited while overflowing bins are skipped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94860" y="1143000"/>
            <a:ext cx="40005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D5E8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77740" y="1705356"/>
            <a:ext cx="566928" cy="566928"/>
          </a:xfrm>
          <a:prstGeom prst="ellipse">
            <a:avLst/>
          </a:prstGeom>
          <a:solidFill>
            <a:srgbClr val="DDF1E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8133" y="1835749"/>
            <a:ext cx="306141" cy="30614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436108" y="1188720"/>
            <a:ext cx="297637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planning wastes fuel, distance and driver hours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457200" y="2971800"/>
            <a:ext cx="40005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D5E8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080" y="3534156"/>
            <a:ext cx="566928" cy="566928"/>
          </a:xfrm>
          <a:prstGeom prst="ellipse">
            <a:avLst/>
          </a:prstGeom>
          <a:solidFill>
            <a:srgbClr val="DDF1E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473" y="3664549"/>
            <a:ext cx="306141" cy="30614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298448" y="3017520"/>
            <a:ext cx="297637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 record of bin status, truck capacity or history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4594860" y="2971800"/>
            <a:ext cx="40005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D5E8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777740" y="3534156"/>
            <a:ext cx="566928" cy="566928"/>
          </a:xfrm>
          <a:prstGeom prst="ellipse">
            <a:avLst/>
          </a:prstGeom>
          <a:solidFill>
            <a:srgbClr val="DDF1E4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8133" y="3664549"/>
            <a:ext cx="306141" cy="306141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36108" y="3017520"/>
            <a:ext cx="297637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Need: shortest, capacity-aware routes planned automatically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94360" cy="594360"/>
          </a:xfrm>
          <a:prstGeom prst="ellipse">
            <a:avLst/>
          </a:prstGeom>
          <a:solidFill>
            <a:srgbClr val="1B5E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92608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Waste Collection Optimiser  |  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4000500" cy="1082040"/>
          </a:xfrm>
          <a:prstGeom prst="roundRect">
            <a:avLst>
              <a:gd name="adj" fmla="val 10141"/>
            </a:avLst>
          </a:prstGeom>
          <a:solidFill>
            <a:srgbClr val="FFFFFF"/>
          </a:solidFill>
          <a:ln w="9525">
            <a:solidFill>
              <a:srgbClr val="D5E8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400556"/>
            <a:ext cx="566928" cy="566928"/>
          </a:xfrm>
          <a:prstGeom prst="ellipse">
            <a:avLst/>
          </a:prstGeom>
          <a:solidFill>
            <a:srgbClr val="DDF1E4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473" y="1530949"/>
            <a:ext cx="306141" cy="306141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98448" y="1188720"/>
            <a:ext cx="2976372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bins, trucks and zones in one system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94860" y="1143000"/>
            <a:ext cx="4000500" cy="1082040"/>
          </a:xfrm>
          <a:prstGeom prst="roundRect">
            <a:avLst>
              <a:gd name="adj" fmla="val 10141"/>
            </a:avLst>
          </a:prstGeom>
          <a:solidFill>
            <a:srgbClr val="FFFFFF"/>
          </a:solidFill>
          <a:ln w="9525">
            <a:solidFill>
              <a:srgbClr val="D5E8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77740" y="1400556"/>
            <a:ext cx="566928" cy="566928"/>
          </a:xfrm>
          <a:prstGeom prst="ellipse">
            <a:avLst/>
          </a:prstGeom>
          <a:solidFill>
            <a:srgbClr val="DDF1E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8133" y="1530949"/>
            <a:ext cx="306141" cy="30614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436108" y="1188720"/>
            <a:ext cx="2976372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shortest route between bins and the dump yard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457200" y="2362200"/>
            <a:ext cx="4000500" cy="1082040"/>
          </a:xfrm>
          <a:prstGeom prst="roundRect">
            <a:avLst>
              <a:gd name="adj" fmla="val 10141"/>
            </a:avLst>
          </a:prstGeom>
          <a:solidFill>
            <a:srgbClr val="FFFFFF"/>
          </a:solidFill>
          <a:ln w="9525">
            <a:solidFill>
              <a:srgbClr val="D5E8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080" y="2619756"/>
            <a:ext cx="566928" cy="566928"/>
          </a:xfrm>
          <a:prstGeom prst="ellipse">
            <a:avLst/>
          </a:prstGeom>
          <a:solidFill>
            <a:srgbClr val="DDF1E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473" y="2750149"/>
            <a:ext cx="306141" cy="30614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298448" y="2407920"/>
            <a:ext cx="2976372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bins that are full or nearly full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4594860" y="2362200"/>
            <a:ext cx="4000500" cy="1082040"/>
          </a:xfrm>
          <a:prstGeom prst="roundRect">
            <a:avLst>
              <a:gd name="adj" fmla="val 10141"/>
            </a:avLst>
          </a:prstGeom>
          <a:solidFill>
            <a:srgbClr val="FFFFFF"/>
          </a:solidFill>
          <a:ln w="9525">
            <a:solidFill>
              <a:srgbClr val="D5E8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777740" y="2619756"/>
            <a:ext cx="566928" cy="566928"/>
          </a:xfrm>
          <a:prstGeom prst="ellipse">
            <a:avLst/>
          </a:prstGeom>
          <a:solidFill>
            <a:srgbClr val="DDF1E4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8133" y="2750149"/>
            <a:ext cx="306141" cy="306141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36108" y="2407920"/>
            <a:ext cx="2976372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truck capacity when assigning bins</a:t>
            </a:r>
            <a:endParaRPr lang="en-US" sz="1500" dirty="0"/>
          </a:p>
        </p:txBody>
      </p:sp>
      <p:sp>
        <p:nvSpPr>
          <p:cNvPr id="22" name="Shape 16"/>
          <p:cNvSpPr/>
          <p:nvPr/>
        </p:nvSpPr>
        <p:spPr>
          <a:xfrm>
            <a:off x="457200" y="3581400"/>
            <a:ext cx="8138160" cy="1082040"/>
          </a:xfrm>
          <a:prstGeom prst="roundRect">
            <a:avLst>
              <a:gd name="adj" fmla="val 10141"/>
            </a:avLst>
          </a:prstGeom>
          <a:solidFill>
            <a:srgbClr val="FFFFFF"/>
          </a:solidFill>
          <a:ln w="9525">
            <a:solidFill>
              <a:srgbClr val="D5E8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40080" y="3838956"/>
            <a:ext cx="566928" cy="566928"/>
          </a:xfrm>
          <a:prstGeom prst="ellipse">
            <a:avLst/>
          </a:prstGeom>
          <a:solidFill>
            <a:srgbClr val="DDF1E4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473" y="3969349"/>
            <a:ext cx="306141" cy="306141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298448" y="3627120"/>
            <a:ext cx="7114032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reports on distance and waste collected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94360" cy="594360"/>
          </a:xfrm>
          <a:prstGeom prst="ellipse">
            <a:avLst/>
          </a:prstGeom>
          <a:solidFill>
            <a:srgbClr val="1B5E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92608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Waste Collection Optimiser  |  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40005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D5E8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705356"/>
            <a:ext cx="566928" cy="566928"/>
          </a:xfrm>
          <a:prstGeom prst="ellipse">
            <a:avLst/>
          </a:prstGeom>
          <a:solidFill>
            <a:srgbClr val="DDF1E4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473" y="1835749"/>
            <a:ext cx="306141" cy="306141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98448" y="1188720"/>
            <a:ext cx="297637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weekly routes decided manually by supervisors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94860" y="1143000"/>
            <a:ext cx="40005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D5E8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77740" y="1705356"/>
            <a:ext cx="566928" cy="566928"/>
          </a:xfrm>
          <a:prstGeom prst="ellipse">
            <a:avLst/>
          </a:prstGeom>
          <a:solidFill>
            <a:srgbClr val="DDF1E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8133" y="1835749"/>
            <a:ext cx="306141" cy="30614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436108" y="1188720"/>
            <a:ext cx="297637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knowledge of bin fill levels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457200" y="2971800"/>
            <a:ext cx="40005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D5E8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080" y="3534156"/>
            <a:ext cx="566928" cy="566928"/>
          </a:xfrm>
          <a:prstGeom prst="ellipse">
            <a:avLst/>
          </a:prstGeom>
          <a:solidFill>
            <a:srgbClr val="DDF1E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473" y="3664549"/>
            <a:ext cx="306141" cy="30614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298448" y="3017520"/>
            <a:ext cx="297637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Overflowing bins cause complaints and poor hygiene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4594860" y="2971800"/>
            <a:ext cx="40005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D5E8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777740" y="3534156"/>
            <a:ext cx="566928" cy="566928"/>
          </a:xfrm>
          <a:prstGeom prst="ellipse">
            <a:avLst/>
          </a:prstGeom>
          <a:solidFill>
            <a:srgbClr val="DDF1E4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8133" y="3664549"/>
            <a:ext cx="306141" cy="306141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36108" y="3017520"/>
            <a:ext cx="297637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fuel use, unnecessary trips, paper-based records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94360" cy="594360"/>
          </a:xfrm>
          <a:prstGeom prst="ellipse">
            <a:avLst/>
          </a:prstGeom>
          <a:solidFill>
            <a:srgbClr val="1B5E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92608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Waste Collection Optimiser  |  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40005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D5E8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705356"/>
            <a:ext cx="566928" cy="566928"/>
          </a:xfrm>
          <a:prstGeom prst="ellipse">
            <a:avLst/>
          </a:prstGeom>
          <a:solidFill>
            <a:srgbClr val="DDF1E4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473" y="1835749"/>
            <a:ext cx="306141" cy="306141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98448" y="1188720"/>
            <a:ext cx="297637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application with a database of bins, trucks and zones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94860" y="1143000"/>
            <a:ext cx="40005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D5E8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77740" y="1705356"/>
            <a:ext cx="566928" cy="566928"/>
          </a:xfrm>
          <a:prstGeom prst="ellipse">
            <a:avLst/>
          </a:prstGeom>
          <a:solidFill>
            <a:srgbClr val="DDF1E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8133" y="1835749"/>
            <a:ext cx="306141" cy="30614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436108" y="1188720"/>
            <a:ext cx="297637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modelled as a graph; Dijkstra / nearest-neighbour routing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457200" y="2971800"/>
            <a:ext cx="40005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D5E8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080" y="3534156"/>
            <a:ext cx="566928" cy="566928"/>
          </a:xfrm>
          <a:prstGeom prst="ellipse">
            <a:avLst/>
          </a:prstGeom>
          <a:solidFill>
            <a:srgbClr val="DDF1E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473" y="3664549"/>
            <a:ext cx="306141" cy="30614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298448" y="3017520"/>
            <a:ext cx="297637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Bins assigned to trucks by capacity and fill-level priority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4594860" y="2971800"/>
            <a:ext cx="40005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D5E8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777740" y="3534156"/>
            <a:ext cx="566928" cy="566928"/>
          </a:xfrm>
          <a:prstGeom prst="ellipse">
            <a:avLst/>
          </a:prstGeom>
          <a:solidFill>
            <a:srgbClr val="DDF1E4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8133" y="3664549"/>
            <a:ext cx="306141" cy="306141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36108" y="3017520"/>
            <a:ext cx="297637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Optimised route list and summary report per truck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94360" cy="594360"/>
          </a:xfrm>
          <a:prstGeom prst="ellipse">
            <a:avLst/>
          </a:prstGeom>
          <a:solidFill>
            <a:srgbClr val="1B5E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92608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Waste Collection Optimiser  |  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194560" cy="1463040"/>
          </a:xfrm>
          <a:prstGeom prst="roundRect">
            <a:avLst>
              <a:gd name="adj" fmla="val 7500"/>
            </a:avLst>
          </a:prstGeom>
          <a:solidFill>
            <a:srgbClr val="2E8B57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371600"/>
            <a:ext cx="548640" cy="5486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19202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Admin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DF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/ Swing UI</a:t>
            </a:r>
            <a:endParaRPr lang="en-US" sz="15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828800"/>
            <a:ext cx="548640" cy="5486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429000" y="1280160"/>
            <a:ext cx="2194560" cy="1463040"/>
          </a:xfrm>
          <a:prstGeom prst="roundRect">
            <a:avLst>
              <a:gd name="adj" fmla="val 7500"/>
            </a:avLst>
          </a:prstGeom>
          <a:solidFill>
            <a:srgbClr val="1B5E3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371600"/>
            <a:ext cx="548640" cy="5486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429000" y="19202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DF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classes</a:t>
            </a:r>
            <a:endParaRPr lang="en-US" sz="15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1828800"/>
            <a:ext cx="548640" cy="5486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6400800" y="1280160"/>
            <a:ext cx="2194560" cy="1463040"/>
          </a:xfrm>
          <a:prstGeom prst="roundRect">
            <a:avLst>
              <a:gd name="adj" fmla="val 7500"/>
            </a:avLst>
          </a:prstGeom>
          <a:solidFill>
            <a:srgbClr val="0F3D2A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1371600"/>
            <a:ext cx="548640" cy="54864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6400800" y="19202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Engine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DF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algorithm</a:t>
            </a:r>
            <a:endParaRPr lang="en-US" sz="15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0" y="2880360"/>
            <a:ext cx="365760" cy="45720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2651760" y="3429000"/>
            <a:ext cx="3840480" cy="1097280"/>
          </a:xfrm>
          <a:prstGeom prst="roundRect">
            <a:avLst>
              <a:gd name="adj" fmla="val 10000"/>
            </a:avLst>
          </a:prstGeom>
          <a:solidFill>
            <a:srgbClr val="F4B63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80360" y="3749040"/>
            <a:ext cx="457200" cy="457200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3474720" y="342900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3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0F3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Bins  |  Trucks  |  Routes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94360" cy="594360"/>
          </a:xfrm>
          <a:prstGeom prst="ellipse">
            <a:avLst/>
          </a:prstGeom>
          <a:solidFill>
            <a:srgbClr val="1B5E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92608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Functionalities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Waste Collection Optimiser  |  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4000500" cy="1082040"/>
          </a:xfrm>
          <a:prstGeom prst="roundRect">
            <a:avLst>
              <a:gd name="adj" fmla="val 10141"/>
            </a:avLst>
          </a:prstGeom>
          <a:solidFill>
            <a:srgbClr val="FFFFFF"/>
          </a:solidFill>
          <a:ln w="9525">
            <a:solidFill>
              <a:srgbClr val="D5E8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400556"/>
            <a:ext cx="566928" cy="566928"/>
          </a:xfrm>
          <a:prstGeom prst="ellipse">
            <a:avLst/>
          </a:prstGeom>
          <a:solidFill>
            <a:srgbClr val="DDF1E4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473" y="1530949"/>
            <a:ext cx="306141" cy="306141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98448" y="1188720"/>
            <a:ext cx="2976372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update and delete bins, trucks and zones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94860" y="1143000"/>
            <a:ext cx="4000500" cy="1082040"/>
          </a:xfrm>
          <a:prstGeom prst="roundRect">
            <a:avLst>
              <a:gd name="adj" fmla="val 10141"/>
            </a:avLst>
          </a:prstGeom>
          <a:solidFill>
            <a:srgbClr val="FFFFFF"/>
          </a:solidFill>
          <a:ln w="9525">
            <a:solidFill>
              <a:srgbClr val="D5E8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77740" y="1400556"/>
            <a:ext cx="566928" cy="566928"/>
          </a:xfrm>
          <a:prstGeom prst="ellipse">
            <a:avLst/>
          </a:prstGeom>
          <a:solidFill>
            <a:srgbClr val="DDF1E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8133" y="1530949"/>
            <a:ext cx="306141" cy="30614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436108" y="1188720"/>
            <a:ext cx="2976372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bin fill levels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457200" y="2362200"/>
            <a:ext cx="4000500" cy="1082040"/>
          </a:xfrm>
          <a:prstGeom prst="roundRect">
            <a:avLst>
              <a:gd name="adj" fmla="val 10141"/>
            </a:avLst>
          </a:prstGeom>
          <a:solidFill>
            <a:srgbClr val="FFFFFF"/>
          </a:solidFill>
          <a:ln w="9525">
            <a:solidFill>
              <a:srgbClr val="D5E8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080" y="2619756"/>
            <a:ext cx="566928" cy="566928"/>
          </a:xfrm>
          <a:prstGeom prst="ellipse">
            <a:avLst/>
          </a:prstGeom>
          <a:solidFill>
            <a:srgbClr val="DDF1E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473" y="2750149"/>
            <a:ext cx="306141" cy="30614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298448" y="2407920"/>
            <a:ext cx="2976372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an optimised route for each truck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4594860" y="2362200"/>
            <a:ext cx="4000500" cy="1082040"/>
          </a:xfrm>
          <a:prstGeom prst="roundRect">
            <a:avLst>
              <a:gd name="adj" fmla="val 10141"/>
            </a:avLst>
          </a:prstGeom>
          <a:solidFill>
            <a:srgbClr val="FFFFFF"/>
          </a:solidFill>
          <a:ln w="9525">
            <a:solidFill>
              <a:srgbClr val="D5E8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777740" y="2619756"/>
            <a:ext cx="566928" cy="566928"/>
          </a:xfrm>
          <a:prstGeom prst="ellipse">
            <a:avLst/>
          </a:prstGeom>
          <a:solidFill>
            <a:srgbClr val="DDF1E4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8133" y="2750149"/>
            <a:ext cx="306141" cy="306141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36108" y="2407920"/>
            <a:ext cx="2976372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priority list of bins needing urgent pickup</a:t>
            </a:r>
            <a:endParaRPr lang="en-US" sz="1500" dirty="0"/>
          </a:p>
        </p:txBody>
      </p:sp>
      <p:sp>
        <p:nvSpPr>
          <p:cNvPr id="22" name="Shape 16"/>
          <p:cNvSpPr/>
          <p:nvPr/>
        </p:nvSpPr>
        <p:spPr>
          <a:xfrm>
            <a:off x="457200" y="3581400"/>
            <a:ext cx="8138160" cy="1082040"/>
          </a:xfrm>
          <a:prstGeom prst="roundRect">
            <a:avLst>
              <a:gd name="adj" fmla="val 10141"/>
            </a:avLst>
          </a:prstGeom>
          <a:solidFill>
            <a:srgbClr val="FFFFFF"/>
          </a:solidFill>
          <a:ln w="9525">
            <a:solidFill>
              <a:srgbClr val="D5E8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40080" y="3838956"/>
            <a:ext cx="566928" cy="566928"/>
          </a:xfrm>
          <a:prstGeom prst="ellipse">
            <a:avLst/>
          </a:prstGeom>
          <a:solidFill>
            <a:srgbClr val="DDF1E4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473" y="3969349"/>
            <a:ext cx="306141" cy="306141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298448" y="3627120"/>
            <a:ext cx="7114032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Report: distance, bins served, waste collected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94360" cy="594360"/>
          </a:xfrm>
          <a:prstGeom prst="ellipse">
            <a:avLst/>
          </a:prstGeom>
          <a:solidFill>
            <a:srgbClr val="1B5E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92608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– Java Code Screenshots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Waste Collection Optimiser  |  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8229600" cy="36118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9525">
            <a:solidFill>
              <a:srgbClr val="D5E8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/mnt/user-data/uploads/implementai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64948"/>
            <a:ext cx="2438813" cy="3276543"/>
          </a:xfrm>
          <a:prstGeom prst="rect">
            <a:avLst/>
          </a:prstGeom>
        </p:spPr>
      </p:pic>
      <p:pic>
        <p:nvPicPr>
          <p:cNvPr id="8" name="Image 1" descr="/mnt/user-data/uploads/implementation_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3314" y="1264948"/>
            <a:ext cx="5200606" cy="327654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94360" cy="594360"/>
          </a:xfrm>
          <a:prstGeom prst="ellipse">
            <a:avLst/>
          </a:prstGeom>
          <a:solidFill>
            <a:srgbClr val="1B5E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92608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Screenshots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Waste Collection Optimiser  |  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8229600" cy="36118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9525">
            <a:solidFill>
              <a:srgbClr val="D5E8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/mnt/user-data/uploads/outpu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0017" y="1211580"/>
            <a:ext cx="5883965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94360" cy="594360"/>
          </a:xfrm>
          <a:prstGeom prst="ellipse">
            <a:avLst/>
          </a:prstGeom>
          <a:solidFill>
            <a:srgbClr val="1B5E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92608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Waste Collection Optimiser  |  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4000500" cy="1082040"/>
          </a:xfrm>
          <a:prstGeom prst="roundRect">
            <a:avLst>
              <a:gd name="adj" fmla="val 10141"/>
            </a:avLst>
          </a:prstGeom>
          <a:solidFill>
            <a:srgbClr val="FFFFFF"/>
          </a:solidFill>
          <a:ln w="9525">
            <a:solidFill>
              <a:srgbClr val="D5E8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400556"/>
            <a:ext cx="566928" cy="566928"/>
          </a:xfrm>
          <a:prstGeom prst="ellipse">
            <a:avLst/>
          </a:prstGeom>
          <a:solidFill>
            <a:srgbClr val="DDF1E4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473" y="1530949"/>
            <a:ext cx="306141" cy="306141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98448" y="1188720"/>
            <a:ext cx="2976372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sensors on bins for live fill-level data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94860" y="1143000"/>
            <a:ext cx="4000500" cy="1082040"/>
          </a:xfrm>
          <a:prstGeom prst="roundRect">
            <a:avLst>
              <a:gd name="adj" fmla="val 10141"/>
            </a:avLst>
          </a:prstGeom>
          <a:solidFill>
            <a:srgbClr val="FFFFFF"/>
          </a:solidFill>
          <a:ln w="9525">
            <a:solidFill>
              <a:srgbClr val="D5E8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77740" y="1400556"/>
            <a:ext cx="566928" cy="566928"/>
          </a:xfrm>
          <a:prstGeom prst="ellipse">
            <a:avLst/>
          </a:prstGeom>
          <a:solidFill>
            <a:srgbClr val="DDF1E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8133" y="1530949"/>
            <a:ext cx="306141" cy="30614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436108" y="1188720"/>
            <a:ext cx="2976372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integration and map display of routes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457200" y="2362200"/>
            <a:ext cx="4000500" cy="1082040"/>
          </a:xfrm>
          <a:prstGeom prst="roundRect">
            <a:avLst>
              <a:gd name="adj" fmla="val 10141"/>
            </a:avLst>
          </a:prstGeom>
          <a:solidFill>
            <a:srgbClr val="FFFFFF"/>
          </a:solidFill>
          <a:ln w="9525">
            <a:solidFill>
              <a:srgbClr val="D5E8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080" y="2619756"/>
            <a:ext cx="566928" cy="566928"/>
          </a:xfrm>
          <a:prstGeom prst="ellipse">
            <a:avLst/>
          </a:prstGeom>
          <a:solidFill>
            <a:srgbClr val="DDF1E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473" y="2750149"/>
            <a:ext cx="306141" cy="30614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298448" y="2407920"/>
            <a:ext cx="2976372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for drivers and citizen complaints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4594860" y="2362200"/>
            <a:ext cx="4000500" cy="1082040"/>
          </a:xfrm>
          <a:prstGeom prst="roundRect">
            <a:avLst>
              <a:gd name="adj" fmla="val 10141"/>
            </a:avLst>
          </a:prstGeom>
          <a:solidFill>
            <a:srgbClr val="FFFFFF"/>
          </a:solidFill>
          <a:ln w="9525">
            <a:solidFill>
              <a:srgbClr val="D5E8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777740" y="2619756"/>
            <a:ext cx="566928" cy="566928"/>
          </a:xfrm>
          <a:prstGeom prst="ellipse">
            <a:avLst/>
          </a:prstGeom>
          <a:solidFill>
            <a:srgbClr val="DDF1E4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8133" y="2750149"/>
            <a:ext cx="306141" cy="306141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36108" y="2407920"/>
            <a:ext cx="2976372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to predict waste generation</a:t>
            </a:r>
            <a:endParaRPr lang="en-US" sz="1500" dirty="0"/>
          </a:p>
        </p:txBody>
      </p:sp>
      <p:sp>
        <p:nvSpPr>
          <p:cNvPr id="22" name="Shape 16"/>
          <p:cNvSpPr/>
          <p:nvPr/>
        </p:nvSpPr>
        <p:spPr>
          <a:xfrm>
            <a:off x="457200" y="3581400"/>
            <a:ext cx="8138160" cy="1082040"/>
          </a:xfrm>
          <a:prstGeom prst="roundRect">
            <a:avLst>
              <a:gd name="adj" fmla="val 10141"/>
            </a:avLst>
          </a:prstGeom>
          <a:solidFill>
            <a:srgbClr val="FFFFFF"/>
          </a:solidFill>
          <a:ln w="9525">
            <a:solidFill>
              <a:srgbClr val="D5E8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40080" y="3838956"/>
            <a:ext cx="566928" cy="566928"/>
          </a:xfrm>
          <a:prstGeom prst="ellipse">
            <a:avLst/>
          </a:prstGeom>
          <a:solidFill>
            <a:srgbClr val="DDF1E4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473" y="3969349"/>
            <a:ext cx="306141" cy="306141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298448" y="3627120"/>
            <a:ext cx="7114032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 for municipal officers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94360" cy="594360"/>
          </a:xfrm>
          <a:prstGeom prst="ellipse">
            <a:avLst/>
          </a:prstGeom>
          <a:solidFill>
            <a:srgbClr val="1B5E3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92608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Waste Collection Optimiser  |  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40005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D5E8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705356"/>
            <a:ext cx="566928" cy="566928"/>
          </a:xfrm>
          <a:prstGeom prst="ellipse">
            <a:avLst/>
          </a:prstGeom>
          <a:solidFill>
            <a:srgbClr val="DDF1E4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473" y="1835749"/>
            <a:ext cx="306141" cy="306141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98448" y="1188720"/>
            <a:ext cx="297637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fixed routes with data-driven planning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94860" y="1143000"/>
            <a:ext cx="40005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D5E8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77740" y="1705356"/>
            <a:ext cx="566928" cy="566928"/>
          </a:xfrm>
          <a:prstGeom prst="ellipse">
            <a:avLst/>
          </a:prstGeom>
          <a:solidFill>
            <a:srgbClr val="DDF1E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8133" y="1835749"/>
            <a:ext cx="306141" cy="30614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436108" y="1188720"/>
            <a:ext cx="297637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distance, fuel use and overflowing bins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457200" y="2971800"/>
            <a:ext cx="40005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D5E8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080" y="3534156"/>
            <a:ext cx="566928" cy="566928"/>
          </a:xfrm>
          <a:prstGeom prst="ellipse">
            <a:avLst/>
          </a:prstGeom>
          <a:solidFill>
            <a:srgbClr val="DDF1E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473" y="3664549"/>
            <a:ext cx="306141" cy="30614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298448" y="3017520"/>
            <a:ext cx="297637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Java; easy to extend with maps and live sensors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4594860" y="2971800"/>
            <a:ext cx="40005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D5E8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777740" y="3534156"/>
            <a:ext cx="566928" cy="566928"/>
          </a:xfrm>
          <a:prstGeom prst="ellipse">
            <a:avLst/>
          </a:prstGeom>
          <a:solidFill>
            <a:srgbClr val="DDF1E4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8133" y="3664549"/>
            <a:ext cx="306141" cy="306141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36108" y="3017520"/>
            <a:ext cx="297637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how algorithms improve everyday civic services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3D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-1280160"/>
            <a:ext cx="4572000" cy="4572000"/>
          </a:xfrm>
          <a:prstGeom prst="ellipse">
            <a:avLst/>
          </a:prstGeom>
          <a:solidFill>
            <a:srgbClr val="1B5E3F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2926080"/>
            <a:ext cx="3291840" cy="3291840"/>
          </a:xfrm>
          <a:prstGeom prst="ellipse">
            <a:avLst/>
          </a:prstGeom>
          <a:solidFill>
            <a:srgbClr val="2E8B5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3657600"/>
            <a:ext cx="2560320" cy="2560320"/>
          </a:xfrm>
          <a:prstGeom prst="ellipse">
            <a:avLst/>
          </a:prstGeom>
          <a:solidFill>
            <a:srgbClr val="2E8B57">
              <a:alpha val="3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840480" y="548640"/>
            <a:ext cx="1463040" cy="14630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914400"/>
            <a:ext cx="731520" cy="7315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19456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2004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4B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are welcome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9319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F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Thatikonda Ashish Reddy  |  Vicharapu Tarun Teja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2026-09-30T17:12:17Z</dcterms:created>
  <dcterms:modified xsi:type="dcterms:W3CDTF">2026-09-30T17:12:17Z</dcterms:modified>
</cp:coreProperties>
</file>